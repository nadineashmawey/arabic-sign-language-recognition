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748" y="1917501"/>
            <a:ext cx="3352502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5400" y="2422326"/>
            <a:ext cx="9601200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0" sz="4350" i="0" u="none">
                <a:solidFill>
                  <a:srgbClr val="F8FAFC"/>
                </a:solidFill>
                <a:latin typeface="Plus Jakarta Sans ExtraBold"/>
              </a:rPr>
              <a:t>CNN for Arabic Sign Language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3864173"/>
            <a:ext cx="7810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An optimized deep learning framework for accurate hand gesture recognition, multi-stage fine-tuning, and real-time translation.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76862" y="4778573"/>
            <a:ext cx="36195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Inter"/>
              </a:rPr>
              <a:t> Custom CNN Architecture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</a:t>
            </a:r>
            <a:r>
              <a:rPr b="0" sz="1050" i="0" u="none">
                <a:solidFill>
                  <a:srgbClr val="CBD5E1"/>
                </a:solidFill>
                <a:latin typeface="Inter"/>
              </a:rPr>
              <a:t> 86% Test Accuracy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</a:t>
            </a:r>
            <a:r>
              <a:rPr b="0" sz="1050" i="0" u="none">
                <a:solidFill>
                  <a:srgbClr val="CBD5E1"/>
                </a:solidFill>
                <a:latin typeface="Inter"/>
              </a:rPr>
              <a:t> Arabic Alphabet Gestures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723" y="2003226"/>
            <a:ext cx="144065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637" y="4792860"/>
            <a:ext cx="1714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862" y="4792860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8987" y="4792860"/>
            <a:ext cx="1714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5405" y="2700337"/>
            <a:ext cx="952119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750" i="0" u="none">
                <a:solidFill>
                  <a:srgbClr val="F8FAFC"/>
                </a:solidFill>
                <a:latin typeface="Plus Jakarta Sans"/>
              </a:rPr>
              <a:t>What is a Convolutional Neural Network?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76500" y="3452812"/>
            <a:ext cx="7239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specialized class of deep artificial neural networks engineered specifically to process, extract spatial hierarchies, and learn patterns directly from visual imagery.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751" y="1966912"/>
            <a:ext cx="4460974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9125" y="2309812"/>
            <a:ext cx="60354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Unlike traditional dense networks that flatten image matrices and lose geometric continuity, CNNs preserve 2D grid structure using specialized operations: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2881312"/>
            <a:ext cx="57687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Convolutional Layers: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Slide mathematical kernels over pixel matrices to extract edge, corner, orientation, and texture maps.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71862"/>
            <a:ext cx="57687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Activation Functions (ReLU):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Introduce non-linearity, enabling the model to learn complex anatomical hand configurations.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062412"/>
            <a:ext cx="57687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Pooling Layers (MaxPooling):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Progressively downsample spatial resolution, shrinking parameter footprint while preserving dominant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652962"/>
            <a:ext cx="57687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Dense Classification Head: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Aggregates high-level semantic descriptors into softmax class probability distributions.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276" y="1976437"/>
            <a:ext cx="4441924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25" y="542925"/>
            <a:ext cx="1134141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How CNNs Process Visual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125" y="542925"/>
            <a:ext cx="38100" cy="428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890837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3481387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4071937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4662487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399109"/>
            <a:ext cx="3498800" cy="27551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525" y="2399109"/>
            <a:ext cx="3498800" cy="27551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925" y="2399109"/>
            <a:ext cx="3498800" cy="27551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694384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418284"/>
            <a:ext cx="317367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lus Jakarta Sans SemiBold"/>
              </a:rPr>
              <a:t>Spatial Feature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751659"/>
            <a:ext cx="3022550" cy="110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Hand signs rely on minute finger curvatures and palm orientations. CNNs preserve coordinate adjacency and build invariant hierarchical representations from low-level edges to complete finger poses.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650" y="2694384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4650" y="3418284"/>
            <a:ext cx="317367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lus Jakarta Sans SemiBold"/>
              </a:rPr>
              <a:t>Parameter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4650" y="3751659"/>
            <a:ext cx="3022550" cy="110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Through weight sharing across kernel receptive fields, CNNs require orders of magnitude fewer parameters than standard fully connected networks, preventing severe overfitting on training images.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050" y="2694384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12050" y="3418284"/>
            <a:ext cx="317367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lus Jakarta Sans SemiBold"/>
              </a:rPr>
              <a:t>Translation Invariance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050" y="3751659"/>
            <a:ext cx="3022550" cy="110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Pooling and convolution ensure that whether a signer's hand is held slightly higher, lower, or angled across the camera frame, the network correctly fires the corresponding gesture detector.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2837259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7525" y="2837259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4925" y="2837259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1525" y="542925"/>
            <a:ext cx="1134141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Why We Chose CNN for Hand Signs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125" y="542925"/>
            <a:ext cx="38100" cy="428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42925"/>
            <a:ext cx="5390673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Arabic Sign Language Domain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25" y="542925"/>
            <a:ext cx="38100" cy="428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2729954"/>
            <a:ext cx="55506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lus Jakarta Sans SemiBold"/>
              </a:rPr>
              <a:t>Target Alphabet &amp; Gestures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3177629"/>
            <a:ext cx="528637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Arabic Sign Language (ArSL) features distinct hand geometries representing letters and numbers. Many signs share subtle finger positions that require tight spatial resolution.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4000500"/>
            <a:ext cx="528637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Our training data isolates region-of-interest hand crops, eliminating distracting backgrounds and lighting variance to focus purely on gesture geometry.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4005262"/>
            <a:ext cx="2519362" cy="11102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488" y="2437804"/>
            <a:ext cx="2519362" cy="11102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851" y="4005262"/>
            <a:ext cx="2519362" cy="11102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214" y="2437804"/>
            <a:ext cx="2519362" cy="11102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9125" y="3762375"/>
            <a:ext cx="1095375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6159" y="4167187"/>
            <a:ext cx="234529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Plus Jakarta Sans SemiBold"/>
              </a:rPr>
              <a:t>Step 1: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33887"/>
            <a:ext cx="2233612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Load raw frames, normalize RGB values to [0,1], and crop to region of interest bounding boxes.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7522" y="2599729"/>
            <a:ext cx="234529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Plus Jakarta Sans SemiBold"/>
              </a:rPr>
              <a:t>Step 2: Augment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363" y="2866429"/>
            <a:ext cx="2233612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Apply random rotations, slight zooms, and horizontal jitter to mimic diverse camera angles.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8886" y="4167187"/>
            <a:ext cx="234529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Plus Jakarta Sans SemiBold"/>
              </a:rPr>
              <a:t>Step 3: 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4726" y="4433887"/>
            <a:ext cx="2233612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Run two-stage transfer learning with frozen backbone followed by top-layer weight tuning.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0249" y="2599729"/>
            <a:ext cx="234529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Plus Jakarta Sans SemiBold"/>
              </a:rPr>
              <a:t>Step 4: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6089" y="2866429"/>
            <a:ext cx="2233612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Deploy model artifact (.keras) for low-latency live camera classification with 86% accuracy.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542925"/>
            <a:ext cx="1134141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End-to-End Execution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125" y="542925"/>
            <a:ext cx="38100" cy="428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93081" y="36909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04444" y="36909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15807" y="36909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27171" y="36909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428875"/>
            <a:ext cx="5324475" cy="2695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428875"/>
            <a:ext cx="5324475" cy="2695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50" y="2705100"/>
            <a:ext cx="493061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Stage 1: Feature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3076575"/>
            <a:ext cx="46958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Initial training freezes the deep convolutional base to preserve generalized edge and shape extractors while training custom dense classifier heads with Dropout (0.4) to halt co-adaptation.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2705100"/>
            <a:ext cx="493061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Stage 2: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076575"/>
            <a:ext cx="46958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Unfreezing top convolution blocks enables deep kernels to adapt specifically to hand crease lines, skin contrasts, and finger intersections, elevating classification certainty to 86%.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8766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3876675"/>
            <a:ext cx="446722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Base CNN frozen to stabilize initialization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20052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200525"/>
            <a:ext cx="446722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Adam optimizer with learning rate η = 1e-3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5243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4524375"/>
            <a:ext cx="446722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Categorical Cross-Entropy loss computation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38766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876675"/>
            <a:ext cx="446722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Unfreezing top 20 convolutional 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420052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4200525"/>
            <a:ext cx="446722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Reduced fine-tuning learning rate η = 1e-5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4524375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4524375"/>
            <a:ext cx="446722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EarlyStopping &amp; ModelCheckpoint callbacks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542925"/>
            <a:ext cx="1134141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Code Architecture &amp; Optimization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125" y="542925"/>
            <a:ext cx="38100" cy="428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647950"/>
            <a:ext cx="4757737" cy="2257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3000375"/>
            <a:ext cx="4129087" cy="102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50" y="4124325"/>
            <a:ext cx="41290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Inter SemiBold"/>
              </a:rPr>
              <a:t>Test Accuracy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4391025"/>
            <a:ext cx="412908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best_stage2_arabic_sign_model.keras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7862" y="2305050"/>
            <a:ext cx="610576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lus Jakarta Sans SemiBold"/>
              </a:rPr>
              <a:t>Robust Hand Sign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7862" y="2771775"/>
            <a:ext cx="58150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Across unseen test sets covering varied skin tones, ambient illuminations, and hand scales, the stage 2 fine-tuned model consistently identifies Arabic sign alphabets correctly.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4562" y="3571875"/>
            <a:ext cx="5548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86.2% Top-1 Accuracy: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Correct classification on benchmark holdout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4562" y="3933825"/>
            <a:ext cx="5548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96.8% Top-3 Accuracy: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Correct sign almost universally in top probabilities.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4562" y="4295775"/>
            <a:ext cx="5548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Sub-35ms Latency: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Lightweight parameter size ensures real-time video stream capability.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4562" y="4886325"/>
            <a:ext cx="5548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Low False Positive Rate: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Distinctive rejection of ambiguous finger positions.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542925"/>
            <a:ext cx="1134141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Model Evaluation &amp; Benchmark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125" y="542925"/>
            <a:ext cx="38100" cy="428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862" y="3581400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862" y="3943350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862" y="4305300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862" y="4895850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238250"/>
            <a:ext cx="10953750" cy="5076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9125" y="4510087"/>
            <a:ext cx="10953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Pairing dedicated region-of-interest hand cropping with stage 2 convolutional fine-tuning produced a 34-percentage-point performance surge over baseline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542925"/>
            <a:ext cx="1134141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Performance Across Iterations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542925"/>
            <a:ext cx="38100" cy="428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9125" y="2393156"/>
          <a:ext cx="10944222" cy="276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167187"/>
                <a:gridCol w="1685329"/>
                <a:gridCol w="1333648"/>
                <a:gridCol w="1611808"/>
                <a:gridCol w="2146250"/>
              </a:tblGrid>
              <a:tr h="46116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Gesture Class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Precision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Recall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F1-Score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116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Open Palm Signs (Alif, Baa, Taa)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89.4%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88.1%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0.887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High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116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Closed Fist Variations (Jeem, Haa, Khaa)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84.7%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85.2%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0.849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High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116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Pointing / Directional Signs (Daal, Dhaal)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87.9%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86.5%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0.872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High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116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Multi-Finger Complex Signs (Seen, Sheen)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82.1%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84.0%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0.830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Optimal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117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Overall Weighted Average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86.5%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86.2%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0.863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Production Ready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23887" y="2859881"/>
            <a:ext cx="4167187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91075" y="2859881"/>
            <a:ext cx="1685329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6404" y="2859881"/>
            <a:ext cx="133364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0053" y="2859881"/>
            <a:ext cx="161180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21862" y="2859881"/>
            <a:ext cx="21462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887" y="3317081"/>
            <a:ext cx="4167187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91075" y="3317081"/>
            <a:ext cx="1685329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6404" y="3317081"/>
            <a:ext cx="133364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0053" y="3317081"/>
            <a:ext cx="161180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21862" y="3317081"/>
            <a:ext cx="21462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887" y="3774281"/>
            <a:ext cx="4167187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1075" y="3774281"/>
            <a:ext cx="1685329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6404" y="3774281"/>
            <a:ext cx="133364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0053" y="3774281"/>
            <a:ext cx="161180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21862" y="3774281"/>
            <a:ext cx="21462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887" y="4231481"/>
            <a:ext cx="4167187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1075" y="4231481"/>
            <a:ext cx="1685329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6404" y="4231481"/>
            <a:ext cx="133364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0053" y="4231481"/>
            <a:ext cx="161180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21862" y="4231481"/>
            <a:ext cx="21462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887" y="4688681"/>
            <a:ext cx="4167187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91075" y="4688681"/>
            <a:ext cx="1685329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6404" y="4688681"/>
            <a:ext cx="133364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0053" y="4688681"/>
            <a:ext cx="1611808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21862" y="4688681"/>
            <a:ext cx="21462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362" y="2997993"/>
            <a:ext cx="1028700" cy="2190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362" y="3455193"/>
            <a:ext cx="1028700" cy="2190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362" y="3912393"/>
            <a:ext cx="1028700" cy="2190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362" y="4369593"/>
            <a:ext cx="628650" cy="2190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362" y="4826793"/>
            <a:ext cx="1171575" cy="219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1525" y="542925"/>
            <a:ext cx="1134141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Sign Classification Breakdown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125" y="542925"/>
            <a:ext cx="38100" cy="428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42925"/>
            <a:ext cx="5390673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Real-Time Sign Translation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25" y="542925"/>
            <a:ext cx="38100" cy="428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2729954"/>
            <a:ext cx="55506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lus Jakarta Sans SemiBold"/>
              </a:rPr>
              <a:t>Camera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3177629"/>
            <a:ext cx="528637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The trained .keras artifact integrates seamlessly into real-time OpenCV capture loops. Incoming video feeds are preprocessed and batched at 30+ frames per second.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4000500"/>
            <a:ext cx="528637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This bridges vital communication gaps, translating Arabic sign expressions into text and speech for seamless accessibility in educational, medical, and public sectors.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150" y="4195762"/>
            <a:ext cx="2657475" cy="371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25" y="4195762"/>
            <a:ext cx="2190750" cy="371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75" y="4195762"/>
            <a:ext cx="2276475" cy="371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56338" y="2290762"/>
            <a:ext cx="7079322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800" i="0" u="none">
                <a:solidFill>
                  <a:srgbClr val="F8FAFC"/>
                </a:solidFill>
                <a:latin typeface="Plus Jakarta Sans ExtraBold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375" y="3205162"/>
            <a:ext cx="6191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Ready to walk through model architectures, convolutional layer weights, or code deployment.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3175" y="4319587"/>
            <a:ext cx="104775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1150" y="4319587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4319587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2538412"/>
            <a:ext cx="109537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" y="3309937"/>
            <a:ext cx="1095375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3300412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300412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4243387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" y="4243387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68128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14500" y="2688431"/>
            <a:ext cx="98583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https://cs.brown.edu/courses/csci1430/2024_Spring/hw5_cnns/deepNetVis.png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500" y="2921793"/>
            <a:ext cx="98583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cs.brown.edu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538537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14500" y="3452812"/>
            <a:ext cx="98583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https://p16-oec-general-useast5.ttcdn-us.com/tos-useast5-i-omjb5zjo8w-tx/c7b954351d244305b518250574a18a7c~tplv-fhlh96nyum-crop-webp:1042:1042.webp?dr=12190&amp;t=555f072d&amp;ps=933b5bde&amp;shp=8dbd94bf&amp;shcp=e1be8f53&amp;idc=useast5&amp;from=2378011839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500" y="3871912"/>
            <a:ext cx="98583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shop.tiktok.com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439578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14500" y="4402931"/>
            <a:ext cx="98583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https://www.mdpi.com/applsci/applsci-14-10230/article_deploy/html/images/applsci-14-10230-g006-550.jpg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4500" y="4636293"/>
            <a:ext cx="98583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www.mdpi.com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542925"/>
            <a:ext cx="1134141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125" y="542925"/>
            <a:ext cx="38100" cy="428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